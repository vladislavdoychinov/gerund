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GB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A2367B-57A1-4D2D-99EE-79BADD9D86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B0D9B0-E84F-49E8-B108-1D540E67C7F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D216EBA-292E-47E4-ABC2-466E052602C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GB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GB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EBA66D2-75BE-4AF0-9544-49BA14757F3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8DBAB8F-9B84-482A-B426-00B616B753A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GB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GB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GB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8A939F8-FD4B-49D1-A720-8B0B8766169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F6AEA5F-4446-47F3-9510-8017C83BA81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GB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7F88683-C8F4-4B56-B698-D71BCEE8845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8917CDC8-F35B-4701-A424-B492BF6A59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767468D9-DE51-431F-B7EE-22BA4E729BE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614B80E5-ABF0-445F-978E-55922BC14E4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GB" sz="60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GB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56BD91-619C-4181-AFC9-36B2ECC20F4E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GB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GB" sz="20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GB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GB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GB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GB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GB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GB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GB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76A27E-B639-4B90-8F2E-44C24617BB6B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GB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GB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GB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GB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6CC377-4B79-4FB6-8F39-EB130CF31FB4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GB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GB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GB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GB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6CD342-E8AC-4B69-B636-4A5D5924DAA2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60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GB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Click to edit Master text styles</a:t>
            </a:r>
            <a:endParaRPr b="0" lang="en-GB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C04647-600A-4CA2-A67E-E8550FE7E531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GB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GB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GB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GB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GB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GB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GB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125AE7-A3CD-4876-A139-3313E4EAB404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GB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GB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GB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GB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GB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GB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GB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GB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GB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B1FAE6-C047-41ED-8D86-E063E277D992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GB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4B1237-532C-4CAF-A3EF-AAF102B82820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4B6876-27BF-4424-A3F1-7F1DBE703357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32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GB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GB" sz="32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GB" sz="28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GB" sz="24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GB" sz="20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GB" sz="2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6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GB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77A9F4-04B9-45B0-87A3-ECBA9D0E7256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32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GB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200" spc="-1" strike="noStrike">
                <a:solidFill>
                  <a:schemeClr val="dk1"/>
                </a:solidFill>
                <a:latin typeface="Aptos"/>
              </a:rPr>
              <a:t>Click icon to add picture</a:t>
            </a:r>
            <a:endParaRPr b="0" lang="en-GB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6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GB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54B643-399E-443D-A852-68488C9A39A9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67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0" y="0"/>
            <a:ext cx="1219140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2726280" y="1741320"/>
            <a:ext cx="6738840" cy="238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GB" sz="5200" spc="-1" strike="noStrike">
                <a:solidFill>
                  <a:schemeClr val="dk2"/>
                </a:solidFill>
                <a:latin typeface="Times New Roman"/>
              </a:rPr>
              <a:t>PulsePoint</a:t>
            </a:r>
            <a:endParaRPr b="0" lang="en-GB" sz="5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2725560" y="4200480"/>
            <a:ext cx="6740280" cy="6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solidFill>
                  <a:schemeClr val="dk2"/>
                </a:solidFill>
                <a:latin typeface="Times New Roman"/>
              </a:rPr>
              <a:t>Gerund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0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5162760" cy="3152520"/>
            <a:chOff x="0" y="0"/>
            <a:chExt cx="5162760" cy="3152520"/>
          </a:xfrm>
        </p:grpSpPr>
        <p:sp>
          <p:nvSpPr>
            <p:cNvPr id="71" name="Freeform: Shape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-360" y="0"/>
              <a:ext cx="5162760" cy="3152520"/>
            </a:xfrm>
            <a:custGeom>
              <a:avLst/>
              <a:gdLst>
                <a:gd name="textAreaLeft" fmla="*/ -360 w 5162760"/>
                <a:gd name="textAreaRight" fmla="*/ 5162760 w 5162760"/>
                <a:gd name="textAreaTop" fmla="*/ 0 h 3152520"/>
                <a:gd name="textAreaBottom" fmla="*/ 3152880 h 3152520"/>
              </a:gdLst>
              <a:ahLst/>
              <a:rect l="textAreaLeft" t="textAreaTop" r="textAreaRight" b="textAreaBottom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04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72" name="Freeform: Shap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360" y="0"/>
              <a:ext cx="5114880" cy="2889720"/>
            </a:xfrm>
            <a:custGeom>
              <a:avLst/>
              <a:gdLst>
                <a:gd name="textAreaLeft" fmla="*/ 360 w 5114880"/>
                <a:gd name="textAreaRight" fmla="*/ 5115600 w 5114880"/>
                <a:gd name="textAreaTop" fmla="*/ 0 h 2889720"/>
                <a:gd name="textAreaBottom" fmla="*/ 2890080 h 2889720"/>
              </a:gdLst>
              <a:ahLst/>
              <a:rect l="textAreaLeft" t="textAreaTop" r="textAreaRight" b="textAreaBottom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04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73" name="Freeform: Shape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-360" y="0"/>
              <a:ext cx="5110200" cy="2838240"/>
            </a:xfrm>
            <a:custGeom>
              <a:avLst/>
              <a:gdLst>
                <a:gd name="textAreaLeft" fmla="*/ -360 w 5110200"/>
                <a:gd name="textAreaRight" fmla="*/ 5110200 w 5110200"/>
                <a:gd name="textAreaTop" fmla="*/ 0 h 2838240"/>
                <a:gd name="textAreaBottom" fmla="*/ 2838600 h 2838240"/>
              </a:gdLst>
              <a:ahLst/>
              <a:rect l="textAreaLeft" t="textAreaTop" r="textAreaRight" b="textAreaBottom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04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74" name="Freeform: Shape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-360" y="0"/>
              <a:ext cx="5110200" cy="2838240"/>
            </a:xfrm>
            <a:custGeom>
              <a:avLst/>
              <a:gdLst>
                <a:gd name="textAreaLeft" fmla="*/ -360 w 5110200"/>
                <a:gd name="textAreaRight" fmla="*/ 5110200 w 5110200"/>
                <a:gd name="textAreaTop" fmla="*/ 0 h 2838240"/>
                <a:gd name="textAreaBottom" fmla="*/ 2838600 h 2838240"/>
              </a:gdLst>
              <a:ahLst/>
              <a:rect l="textAreaLeft" t="textAreaTop" r="textAreaRight" b="textAreaBottom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04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</p:grpSp>
      <p:grpSp>
        <p:nvGrpSpPr>
          <p:cNvPr id="75" name="Group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475560" y="3715560"/>
            <a:ext cx="2716560" cy="3142080"/>
            <a:chOff x="9475560" y="3715560"/>
            <a:chExt cx="2716560" cy="3142080"/>
          </a:xfrm>
        </p:grpSpPr>
        <p:sp>
          <p:nvSpPr>
            <p:cNvPr id="76" name="Freeform: Shape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 rot="16200000">
              <a:off x="9259920" y="3930840"/>
              <a:ext cx="3142080" cy="2711160"/>
            </a:xfrm>
            <a:custGeom>
              <a:avLst/>
              <a:gdLst>
                <a:gd name="textAreaLeft" fmla="*/ 0 w 3142080"/>
                <a:gd name="textAreaRight" fmla="*/ 3142440 w 3142080"/>
                <a:gd name="textAreaTop" fmla="*/ -360 h 2711160"/>
                <a:gd name="textAreaBottom" fmla="*/ 2711160 h 2711160"/>
              </a:gdLst>
              <a:ahLst/>
              <a:rect l="textAreaLeft" t="textAreaTop" r="textAreaRight" b="textAreaBottom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96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77" name="Freeform: Shape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 rot="16200000">
              <a:off x="9417960" y="4083480"/>
              <a:ext cx="3114720" cy="2433600"/>
            </a:xfrm>
            <a:custGeom>
              <a:avLst/>
              <a:gdLst>
                <a:gd name="textAreaLeft" fmla="*/ 0 w 3114720"/>
                <a:gd name="textAreaRight" fmla="*/ 3115080 w 3114720"/>
                <a:gd name="textAreaTop" fmla="*/ 360 h 2433600"/>
                <a:gd name="textAreaBottom" fmla="*/ 2434320 h 2433600"/>
              </a:gdLst>
              <a:ahLst/>
              <a:rect l="textAreaLeft" t="textAreaTop" r="textAreaRight" b="textAreaBottom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96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78" name="Freeform: Shape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 rot="16200000">
              <a:off x="9392040" y="4062960"/>
              <a:ext cx="3124800" cy="2464560"/>
            </a:xfrm>
            <a:custGeom>
              <a:avLst/>
              <a:gdLst>
                <a:gd name="textAreaLeft" fmla="*/ 0 w 3124800"/>
                <a:gd name="textAreaRight" fmla="*/ 3125160 w 3124800"/>
                <a:gd name="textAreaTop" fmla="*/ 360 h 2464560"/>
                <a:gd name="textAreaBottom" fmla="*/ 2465280 h 2464560"/>
              </a:gdLst>
              <a:ahLst/>
              <a:rect l="textAreaLeft" t="textAreaTop" r="textAreaRight" b="textAreaBottom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96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79" name="Freeform: Shap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 rot="16200000">
              <a:off x="9416520" y="4086000"/>
              <a:ext cx="3112200" cy="2428200"/>
            </a:xfrm>
            <a:custGeom>
              <a:avLst/>
              <a:gdLst>
                <a:gd name="textAreaLeft" fmla="*/ 0 w 3112200"/>
                <a:gd name="textAreaRight" fmla="*/ 3112560 w 3112200"/>
                <a:gd name="textAreaTop" fmla="*/ -360 h 2428200"/>
                <a:gd name="textAreaBottom" fmla="*/ 2428200 h 2428200"/>
              </a:gdLst>
              <a:ahLst/>
              <a:rect l="textAreaLeft" t="textAreaTop" r="textAreaRight" b="textAreaBottom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96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1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0" y="0"/>
            <a:ext cx="1219140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800" spc="-1" strike="noStrike">
              <a:solidFill>
                <a:schemeClr val="lt1"/>
              </a:solidFill>
              <a:latin typeface="Aptos"/>
            </a:endParaRPr>
          </a:p>
        </p:txBody>
      </p:sp>
      <p:grpSp>
        <p:nvGrpSpPr>
          <p:cNvPr id="82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21960" y="508680"/>
            <a:ext cx="5217480" cy="6239160"/>
            <a:chOff x="-21960" y="508680"/>
            <a:chExt cx="5217480" cy="6239160"/>
          </a:xfrm>
        </p:grpSpPr>
        <p:sp>
          <p:nvSpPr>
            <p:cNvPr id="83" name="Freeform: Shape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21960" y="508680"/>
              <a:ext cx="5186880" cy="6239160"/>
            </a:xfrm>
            <a:custGeom>
              <a:avLst/>
              <a:gdLst>
                <a:gd name="textAreaLeft" fmla="*/ 0 w 5186880"/>
                <a:gd name="textAreaRight" fmla="*/ 5187240 w 5186880"/>
                <a:gd name="textAreaTop" fmla="*/ 0 h 6239160"/>
                <a:gd name="textAreaBottom" fmla="*/ 6239520 h 6239160"/>
              </a:gdLst>
              <a:ahLst/>
              <a:rect l="textAreaLeft" t="textAreaTop" r="textAreaRight" b="textAreaBottom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84" name="Freeform: Shap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21960" y="555120"/>
              <a:ext cx="5215320" cy="6107040"/>
            </a:xfrm>
            <a:custGeom>
              <a:avLst/>
              <a:gdLst>
                <a:gd name="textAreaLeft" fmla="*/ 0 w 5215320"/>
                <a:gd name="textAreaRight" fmla="*/ 5215680 w 5215320"/>
                <a:gd name="textAreaTop" fmla="*/ 0 h 6107040"/>
                <a:gd name="textAreaBottom" fmla="*/ 6107400 h 6107040"/>
              </a:gdLst>
              <a:ahLst/>
              <a:rect l="textAreaLeft" t="textAreaTop" r="textAreaRight" b="textAreaBottom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85" name="Freeform: Shape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21960" y="577080"/>
              <a:ext cx="5217480" cy="6099840"/>
            </a:xfrm>
            <a:custGeom>
              <a:avLst/>
              <a:gdLst>
                <a:gd name="textAreaLeft" fmla="*/ 0 w 5217480"/>
                <a:gd name="textAreaRight" fmla="*/ 5217840 w 5217480"/>
                <a:gd name="textAreaTop" fmla="*/ 0 h 6099840"/>
                <a:gd name="textAreaBottom" fmla="*/ 6100200 h 6099840"/>
              </a:gdLst>
              <a:ahLst/>
              <a:rect l="textAreaLeft" t="textAreaTop" r="textAreaRight" b="textAreaBottom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86" name="Freeform: Shape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21960" y="577080"/>
              <a:ext cx="5217480" cy="6099840"/>
            </a:xfrm>
            <a:custGeom>
              <a:avLst/>
              <a:gdLst>
                <a:gd name="textAreaLeft" fmla="*/ 0 w 5217480"/>
                <a:gd name="textAreaRight" fmla="*/ 5217840 w 5217480"/>
                <a:gd name="textAreaTop" fmla="*/ 0 h 6099840"/>
                <a:gd name="textAreaBottom" fmla="*/ 6100200 h 6099840"/>
              </a:gdLst>
              <a:ahLst/>
              <a:rect l="textAreaLeft" t="textAreaTop" r="textAreaRight" b="textAreaBottom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</p:grp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40080" y="1243080"/>
            <a:ext cx="3855240" cy="437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3600" spc="-1" strike="noStrike">
                <a:solidFill>
                  <a:schemeClr val="dk2"/>
                </a:solidFill>
                <a:latin typeface="Times New Roman"/>
              </a:rPr>
              <a:t>Проблеми и настоящи решения</a:t>
            </a:r>
            <a:endParaRPr b="0" lang="en-GB" sz="3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6172200" y="804600"/>
            <a:ext cx="5220720" cy="523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Times New Roman"/>
              </a:rPr>
              <a:t>Проблеми: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Times New Roman"/>
              </a:rPr>
              <a:t>Неинтуитивно купуване на стоки (лихва за ползване на услугата)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Times New Roman"/>
              </a:rPr>
              <a:t>Липса на някои функционалности на други приложения карти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Times New Roman"/>
              </a:rPr>
              <a:t>Труден UI за някои хора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Times New Roman"/>
              </a:rPr>
              <a:t>Няколко платформи за взаимно свързани нужди(по-лесно е всичко в едно)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Times New Roman"/>
              </a:rPr>
              <a:t>Настоящи решения: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Times New Roman"/>
              </a:rPr>
              <a:t>Olx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Times New Roman"/>
              </a:rPr>
              <a:t>Google Maps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Times New Roman"/>
              </a:rPr>
              <a:t>Facebook Marketplace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1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9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9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0" y="0"/>
            <a:ext cx="1219140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91" name="Freeform: 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96880" y="3960"/>
            <a:ext cx="9376200" cy="6857640"/>
          </a:xfrm>
          <a:custGeom>
            <a:avLst/>
            <a:gdLst>
              <a:gd name="textAreaLeft" fmla="*/ 0 w 9376200"/>
              <a:gd name="textAreaRight" fmla="*/ 9376560 w 937620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rotWithShape="0">
            <a:gsLst>
              <a:gs pos="16000">
                <a:srgbClr val="4ea72e">
                  <a:alpha val="20000"/>
                </a:srgbClr>
              </a:gs>
              <a:gs pos="85000">
                <a:srgbClr val="156082">
                  <a:alpha val="40000"/>
                </a:srgbClr>
              </a:gs>
            </a:gsLst>
            <a:lin ang="12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grpSp>
        <p:nvGrpSpPr>
          <p:cNvPr id="92" name="Group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03560" y="3960"/>
            <a:ext cx="9772200" cy="6857640"/>
            <a:chOff x="1303560" y="3960"/>
            <a:chExt cx="9772200" cy="6857640"/>
          </a:xfrm>
        </p:grpSpPr>
        <p:sp>
          <p:nvSpPr>
            <p:cNvPr id="93" name="Freeform: Shape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560600" y="3960"/>
              <a:ext cx="9312480" cy="6857640"/>
            </a:xfrm>
            <a:custGeom>
              <a:avLst/>
              <a:gdLst>
                <a:gd name="textAreaLeft" fmla="*/ 0 w 9312480"/>
                <a:gd name="textAreaRight" fmla="*/ 9312840 w 9312480"/>
                <a:gd name="textAreaTop" fmla="*/ 0 h 6857640"/>
                <a:gd name="textAreaBottom" fmla="*/ 6858000 h 6857640"/>
              </a:gdLst>
              <a:ahLst/>
              <a:rect l="textAreaLeft" t="textAreaTop" r="textAreaRight" b="textAreaBottom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94" name="Freeform: Shape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59600" y="3960"/>
              <a:ext cx="9065160" cy="6857640"/>
            </a:xfrm>
            <a:custGeom>
              <a:avLst/>
              <a:gdLst>
                <a:gd name="textAreaLeft" fmla="*/ 0 w 9065160"/>
                <a:gd name="textAreaRight" fmla="*/ 9065520 w 9065160"/>
                <a:gd name="textAreaTop" fmla="*/ 0 h 6857640"/>
                <a:gd name="textAreaBottom" fmla="*/ 6858000 h 6857640"/>
              </a:gdLst>
              <a:ahLst/>
              <a:rect l="textAreaLeft" t="textAreaTop" r="textAreaRight" b="textAreaBottom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95" name="Freeform: Shap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48080" y="3960"/>
              <a:ext cx="9087840" cy="6857640"/>
            </a:xfrm>
            <a:custGeom>
              <a:avLst/>
              <a:gdLst>
                <a:gd name="textAreaLeft" fmla="*/ 0 w 9087840"/>
                <a:gd name="textAreaRight" fmla="*/ 9088200 w 9087840"/>
                <a:gd name="textAreaTop" fmla="*/ 0 h 6857640"/>
                <a:gd name="textAreaBottom" fmla="*/ 6858000 h 6857640"/>
              </a:gdLst>
              <a:ahLst/>
              <a:rect l="textAreaLeft" t="textAreaTop" r="textAreaRight" b="textAreaBottom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96" name="Freeform: Shape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29000" y="3960"/>
              <a:ext cx="9106920" cy="6857640"/>
            </a:xfrm>
            <a:custGeom>
              <a:avLst/>
              <a:gdLst>
                <a:gd name="textAreaLeft" fmla="*/ 0 w 9106920"/>
                <a:gd name="textAreaRight" fmla="*/ 9107280 w 9106920"/>
                <a:gd name="textAreaTop" fmla="*/ 0 h 6857640"/>
                <a:gd name="textAreaBottom" fmla="*/ 6858000 h 6857640"/>
              </a:gdLst>
              <a:ahLst/>
              <a:rect l="textAreaLeft" t="textAreaTop" r="textAreaRight" b="textAreaBottom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97" name="Freeform: Shape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18320" y="3960"/>
              <a:ext cx="9747360" cy="6857640"/>
            </a:xfrm>
            <a:custGeom>
              <a:avLst/>
              <a:gdLst>
                <a:gd name="textAreaLeft" fmla="*/ 0 w 9747360"/>
                <a:gd name="textAreaRight" fmla="*/ 9747720 w 9747360"/>
                <a:gd name="textAreaTop" fmla="*/ 0 h 6857640"/>
                <a:gd name="textAreaBottom" fmla="*/ 6858000 h 6857640"/>
              </a:gdLst>
              <a:ahLst/>
              <a:rect l="textAreaLeft" t="textAreaTop" r="textAreaRight" b="textAreaBottom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98" name="Freeform: Shape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8240" y="3960"/>
              <a:ext cx="9767520" cy="6857640"/>
            </a:xfrm>
            <a:custGeom>
              <a:avLst/>
              <a:gdLst>
                <a:gd name="textAreaLeft" fmla="*/ 0 w 9767520"/>
                <a:gd name="textAreaRight" fmla="*/ 9767880 w 9767520"/>
                <a:gd name="textAreaTop" fmla="*/ 0 h 6857640"/>
                <a:gd name="textAreaBottom" fmla="*/ 6858000 h 6857640"/>
              </a:gdLst>
              <a:ahLst/>
              <a:rect l="textAreaLeft" t="textAreaTop" r="textAreaRight" b="textAreaBottom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99" name="Freeform: Shape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3560" y="3960"/>
              <a:ext cx="9767520" cy="6857640"/>
            </a:xfrm>
            <a:custGeom>
              <a:avLst/>
              <a:gdLst>
                <a:gd name="textAreaLeft" fmla="*/ 0 w 9767520"/>
                <a:gd name="textAreaRight" fmla="*/ 9767880 w 9767520"/>
                <a:gd name="textAreaTop" fmla="*/ 0 h 6857640"/>
                <a:gd name="textAreaBottom" fmla="*/ 6858000 h 6857640"/>
              </a:gdLst>
              <a:ahLst/>
              <a:rect l="textAreaLeft" t="textAreaTop" r="textAreaRight" b="textAreaBottom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</p:grp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3502800" y="1542240"/>
            <a:ext cx="5186520" cy="238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5200" spc="-1" strike="noStrike">
                <a:solidFill>
                  <a:schemeClr val="dk2"/>
                </a:solidFill>
                <a:latin typeface="Aptos Display"/>
              </a:rPr>
              <a:t>Цел на проекта</a:t>
            </a:r>
            <a:endParaRPr b="0" lang="en-GB" sz="5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3502080" y="4001760"/>
            <a:ext cx="5187600" cy="6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2"/>
                </a:solidFill>
                <a:latin typeface="Aptos"/>
              </a:rPr>
              <a:t>"Сговорна дружина, планина повдига"</a:t>
            </a:r>
            <a:endParaRPr b="0" lang="en-GB" sz="2200" spc="-1" strike="noStrike">
              <a:solidFill>
                <a:schemeClr val="dk1"/>
              </a:solidFill>
              <a:latin typeface="Aptos"/>
            </a:endParaRPr>
          </a:p>
        </p:txBody>
      </p:sp>
      <p:grpSp>
        <p:nvGrpSpPr>
          <p:cNvPr id="102" name="Group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360" y="-4320"/>
            <a:ext cx="2514600" cy="2174040"/>
            <a:chOff x="-360" y="-4320"/>
            <a:chExt cx="2514600" cy="2174040"/>
          </a:xfrm>
        </p:grpSpPr>
        <p:sp>
          <p:nvSpPr>
            <p:cNvPr id="103" name="Freeform: Shap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360" y="0"/>
              <a:ext cx="2514600" cy="2169720"/>
            </a:xfrm>
            <a:custGeom>
              <a:avLst/>
              <a:gdLst>
                <a:gd name="textAreaLeft" fmla="*/ 0 w 2514600"/>
                <a:gd name="textAreaRight" fmla="*/ 2514960 w 2514600"/>
                <a:gd name="textAreaTop" fmla="*/ 0 h 2169720"/>
                <a:gd name="textAreaBottom" fmla="*/ 2170080 h 2169720"/>
              </a:gdLst>
              <a:ahLst/>
              <a:rect l="textAreaLeft" t="textAreaTop" r="textAreaRight" b="textAreaBottom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04" name="Freeform: Shape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360" y="-4320"/>
              <a:ext cx="2492640" cy="1947600"/>
            </a:xfrm>
            <a:custGeom>
              <a:avLst/>
              <a:gdLst>
                <a:gd name="textAreaLeft" fmla="*/ 0 w 2492640"/>
                <a:gd name="textAreaRight" fmla="*/ 2493000 w 2492640"/>
                <a:gd name="textAreaTop" fmla="*/ 0 h 1947600"/>
                <a:gd name="textAreaBottom" fmla="*/ 1947960 h 1947600"/>
              </a:gdLst>
              <a:ahLst/>
              <a:rect l="textAreaLeft" t="textAreaTop" r="textAreaRight" b="textAreaBottom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05" name="Freeform: Shap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360" y="0"/>
              <a:ext cx="2500560" cy="1972440"/>
            </a:xfrm>
            <a:custGeom>
              <a:avLst/>
              <a:gdLst>
                <a:gd name="textAreaLeft" fmla="*/ 0 w 2500560"/>
                <a:gd name="textAreaRight" fmla="*/ 2500920 w 2500560"/>
                <a:gd name="textAreaTop" fmla="*/ 0 h 1972440"/>
                <a:gd name="textAreaBottom" fmla="*/ 1972800 h 1972440"/>
              </a:gdLst>
              <a:ahLst/>
              <a:rect l="textAreaLeft" t="textAreaTop" r="textAreaRight" b="textAreaBottom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06" name="Freeform: Shape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60" y="0"/>
              <a:ext cx="2490840" cy="1943280"/>
            </a:xfrm>
            <a:custGeom>
              <a:avLst/>
              <a:gdLst>
                <a:gd name="textAreaLeft" fmla="*/ 0 w 2490840"/>
                <a:gd name="textAreaRight" fmla="*/ 2491200 w 2490840"/>
                <a:gd name="textAreaTop" fmla="*/ 0 h 1943280"/>
                <a:gd name="textAreaBottom" fmla="*/ 1943640 h 1943280"/>
              </a:gdLst>
              <a:ahLst/>
              <a:rect l="textAreaLeft" t="textAreaTop" r="textAreaRight" b="textAreaBottom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</p:grpSp>
      <p:grpSp>
        <p:nvGrpSpPr>
          <p:cNvPr id="107" name="Group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686160" y="4683960"/>
            <a:ext cx="2514600" cy="2174040"/>
            <a:chOff x="9686160" y="4683960"/>
            <a:chExt cx="2514600" cy="2174040"/>
          </a:xfrm>
        </p:grpSpPr>
        <p:sp>
          <p:nvSpPr>
            <p:cNvPr id="108" name="Freeform: Shape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686160" y="4683960"/>
              <a:ext cx="2514600" cy="2169720"/>
            </a:xfrm>
            <a:custGeom>
              <a:avLst/>
              <a:gdLst>
                <a:gd name="textAreaLeft" fmla="*/ 0 w 2514600"/>
                <a:gd name="textAreaRight" fmla="*/ 2514960 w 2514600"/>
                <a:gd name="textAreaTop" fmla="*/ 0 h 2169720"/>
                <a:gd name="textAreaBottom" fmla="*/ 2170080 h 2169720"/>
              </a:gdLst>
              <a:ahLst/>
              <a:rect l="textAreaLeft" t="textAreaTop" r="textAreaRight" b="textAreaBottom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09" name="Freeform: Shape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708120" y="4910400"/>
              <a:ext cx="2492640" cy="1947600"/>
            </a:xfrm>
            <a:custGeom>
              <a:avLst/>
              <a:gdLst>
                <a:gd name="textAreaLeft" fmla="*/ 0 w 2492640"/>
                <a:gd name="textAreaRight" fmla="*/ 2493000 w 2492640"/>
                <a:gd name="textAreaTop" fmla="*/ 0 h 1947600"/>
                <a:gd name="textAreaBottom" fmla="*/ 1947960 h 1947600"/>
              </a:gdLst>
              <a:ahLst/>
              <a:rect l="textAreaLeft" t="textAreaTop" r="textAreaRight" b="textAreaBottom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10" name="Freeform: Shape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700200" y="4881240"/>
              <a:ext cx="2500560" cy="1972440"/>
            </a:xfrm>
            <a:custGeom>
              <a:avLst/>
              <a:gdLst>
                <a:gd name="textAreaLeft" fmla="*/ 0 w 2500560"/>
                <a:gd name="textAreaRight" fmla="*/ 2500920 w 2500560"/>
                <a:gd name="textAreaTop" fmla="*/ 0 h 1972440"/>
                <a:gd name="textAreaBottom" fmla="*/ 1972800 h 1972440"/>
              </a:gdLst>
              <a:ahLst/>
              <a:rect l="textAreaLeft" t="textAreaTop" r="textAreaRight" b="textAreaBottom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11" name="Freeform: Shape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709200" y="4910400"/>
              <a:ext cx="2490840" cy="1943280"/>
            </a:xfrm>
            <a:custGeom>
              <a:avLst/>
              <a:gdLst>
                <a:gd name="textAreaLeft" fmla="*/ 0 w 2490840"/>
                <a:gd name="textAreaRight" fmla="*/ 2491200 w 2490840"/>
                <a:gd name="textAreaTop" fmla="*/ 0 h 1943280"/>
                <a:gd name="textAreaBottom" fmla="*/ 1943640 h 1943280"/>
              </a:gdLst>
              <a:ahLst/>
              <a:rect l="textAreaLeft" t="textAreaTop" r="textAreaRight" b="textAreaBottom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1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0" y="0"/>
            <a:ext cx="1219140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800" spc="-1" strike="noStrike">
              <a:solidFill>
                <a:schemeClr val="lt1"/>
              </a:solidFill>
              <a:latin typeface="Aptos"/>
            </a:endParaRPr>
          </a:p>
        </p:txBody>
      </p:sp>
      <p:grpSp>
        <p:nvGrpSpPr>
          <p:cNvPr id="114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21960" y="508680"/>
            <a:ext cx="5217480" cy="6239160"/>
            <a:chOff x="-21960" y="508680"/>
            <a:chExt cx="5217480" cy="6239160"/>
          </a:xfrm>
        </p:grpSpPr>
        <p:sp>
          <p:nvSpPr>
            <p:cNvPr id="115" name="Freeform: Shape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21960" y="508680"/>
              <a:ext cx="5186880" cy="6239160"/>
            </a:xfrm>
            <a:custGeom>
              <a:avLst/>
              <a:gdLst>
                <a:gd name="textAreaLeft" fmla="*/ 0 w 5186880"/>
                <a:gd name="textAreaRight" fmla="*/ 5187240 w 5186880"/>
                <a:gd name="textAreaTop" fmla="*/ 0 h 6239160"/>
                <a:gd name="textAreaBottom" fmla="*/ 6239520 h 6239160"/>
              </a:gdLst>
              <a:ahLst/>
              <a:rect l="textAreaLeft" t="textAreaTop" r="textAreaRight" b="textAreaBottom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16" name="Freeform: Shap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21960" y="555120"/>
              <a:ext cx="5215320" cy="6107040"/>
            </a:xfrm>
            <a:custGeom>
              <a:avLst/>
              <a:gdLst>
                <a:gd name="textAreaLeft" fmla="*/ 0 w 5215320"/>
                <a:gd name="textAreaRight" fmla="*/ 5215680 w 5215320"/>
                <a:gd name="textAreaTop" fmla="*/ 0 h 6107040"/>
                <a:gd name="textAreaBottom" fmla="*/ 6107400 h 6107040"/>
              </a:gdLst>
              <a:ahLst/>
              <a:rect l="textAreaLeft" t="textAreaTop" r="textAreaRight" b="textAreaBottom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17" name="Freeform: Shape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21960" y="577080"/>
              <a:ext cx="5217480" cy="6099840"/>
            </a:xfrm>
            <a:custGeom>
              <a:avLst/>
              <a:gdLst>
                <a:gd name="textAreaLeft" fmla="*/ 0 w 5217480"/>
                <a:gd name="textAreaRight" fmla="*/ 5217840 w 5217480"/>
                <a:gd name="textAreaTop" fmla="*/ 0 h 6099840"/>
                <a:gd name="textAreaBottom" fmla="*/ 6100200 h 6099840"/>
              </a:gdLst>
              <a:ahLst/>
              <a:rect l="textAreaLeft" t="textAreaTop" r="textAreaRight" b="textAreaBottom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18" name="Freeform: Shape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21960" y="577080"/>
              <a:ext cx="5217480" cy="6099840"/>
            </a:xfrm>
            <a:custGeom>
              <a:avLst/>
              <a:gdLst>
                <a:gd name="textAreaLeft" fmla="*/ 0 w 5217480"/>
                <a:gd name="textAreaRight" fmla="*/ 5217840 w 5217480"/>
                <a:gd name="textAreaTop" fmla="*/ 0 h 6099840"/>
                <a:gd name="textAreaBottom" fmla="*/ 6100200 h 6099840"/>
              </a:gdLst>
              <a:ahLst/>
              <a:rect l="textAreaLeft" t="textAreaTop" r="textAreaRight" b="textAreaBottom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</p:grpSp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40080" y="1243080"/>
            <a:ext cx="3855240" cy="437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3600" spc="-1" strike="noStrike">
                <a:solidFill>
                  <a:schemeClr val="dk2"/>
                </a:solidFill>
                <a:latin typeface="Times New Roman"/>
              </a:rPr>
              <a:t>Как работи проектът?</a:t>
            </a:r>
            <a:endParaRPr b="0" lang="en-GB" sz="3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6172200" y="804600"/>
            <a:ext cx="5220720" cy="523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2"/>
                </a:solidFill>
                <a:latin typeface="Times New Roman"/>
              </a:rPr>
              <a:t>Регистрация и настройки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2"/>
                </a:solidFill>
                <a:latin typeface="Times New Roman"/>
              </a:rPr>
              <a:t>Глобална карта със събития, инициативи, проблеми и други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2"/>
                </a:solidFill>
                <a:latin typeface="Times New Roman"/>
              </a:rPr>
              <a:t>Пазар (Marketplace)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1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2" name="Rectangl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0" y="0"/>
            <a:ext cx="1219140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04600" y="5063760"/>
            <a:ext cx="6082920" cy="99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pc="-1" strike="noStrike">
                <a:solidFill>
                  <a:schemeClr val="dk2"/>
                </a:solidFill>
                <a:latin typeface="Times New Roman"/>
              </a:rPr>
              <a:t>Използвани технологии</a:t>
            </a:r>
            <a:endParaRPr b="0" lang="en-GB" sz="4000" spc="-1" strike="noStrike">
              <a:solidFill>
                <a:schemeClr val="dk1"/>
              </a:solidFill>
              <a:latin typeface="Aptos"/>
            </a:endParaRPr>
          </a:p>
        </p:txBody>
      </p:sp>
      <p:grpSp>
        <p:nvGrpSpPr>
          <p:cNvPr id="124" name="Group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360" y="0"/>
            <a:ext cx="3832560" cy="2875680"/>
            <a:chOff x="-360" y="0"/>
            <a:chExt cx="3832560" cy="2875680"/>
          </a:xfrm>
        </p:grpSpPr>
        <p:sp>
          <p:nvSpPr>
            <p:cNvPr id="125" name="Freeform: Shap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60" y="0"/>
              <a:ext cx="3814920" cy="2653200"/>
            </a:xfrm>
            <a:custGeom>
              <a:avLst/>
              <a:gdLst>
                <a:gd name="textAreaLeft" fmla="*/ 0 w 3814920"/>
                <a:gd name="textAreaRight" fmla="*/ 3815280 w 3814920"/>
                <a:gd name="textAreaTop" fmla="*/ 0 h 2653200"/>
                <a:gd name="textAreaBottom" fmla="*/ 2653560 h 2653200"/>
              </a:gdLst>
              <a:ahLst/>
              <a:rect l="textAreaLeft" t="textAreaTop" r="textAreaRight" b="textAreaBottom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26" name="Freeform: Shape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60" y="0"/>
              <a:ext cx="3814920" cy="2653200"/>
            </a:xfrm>
            <a:custGeom>
              <a:avLst/>
              <a:gdLst>
                <a:gd name="textAreaLeft" fmla="*/ 0 w 3814920"/>
                <a:gd name="textAreaRight" fmla="*/ 3815280 w 3814920"/>
                <a:gd name="textAreaTop" fmla="*/ 0 h 2653200"/>
                <a:gd name="textAreaBottom" fmla="*/ 2653560 h 2653200"/>
              </a:gdLst>
              <a:ahLst/>
              <a:rect l="textAreaLeft" t="textAreaTop" r="textAreaRight" b="textAreaBottom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27" name="Freeform: Shape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360" y="0"/>
              <a:ext cx="3815640" cy="2675520"/>
            </a:xfrm>
            <a:custGeom>
              <a:avLst/>
              <a:gdLst>
                <a:gd name="textAreaLeft" fmla="*/ 0 w 3815640"/>
                <a:gd name="textAreaRight" fmla="*/ 3816000 w 3815640"/>
                <a:gd name="textAreaTop" fmla="*/ 0 h 2675520"/>
                <a:gd name="textAreaBottom" fmla="*/ 2675880 h 2675520"/>
              </a:gdLst>
              <a:ahLst/>
              <a:rect l="textAreaLeft" t="textAreaTop" r="textAreaRight" b="textAreaBottom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28" name="Freeform: Shape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60" y="0"/>
              <a:ext cx="3831840" cy="2875680"/>
            </a:xfrm>
            <a:custGeom>
              <a:avLst/>
              <a:gdLst>
                <a:gd name="textAreaLeft" fmla="*/ 0 w 3831840"/>
                <a:gd name="textAreaRight" fmla="*/ 3832200 w 3831840"/>
                <a:gd name="textAreaTop" fmla="*/ 0 h 2875680"/>
                <a:gd name="textAreaBottom" fmla="*/ 2876040 h 2875680"/>
              </a:gdLst>
              <a:ahLst/>
              <a:rect l="textAreaLeft" t="textAreaTop" r="textAreaRight" b="textAreaBottom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</p:grpSp>
      <p:pic>
        <p:nvPicPr>
          <p:cNvPr id="129" name="Picture 4" descr="Java (programming language) - Wikipedia"/>
          <p:cNvPicPr/>
          <p:nvPr/>
        </p:nvPicPr>
        <p:blipFill>
          <a:blip r:embed="rId1"/>
          <a:stretch/>
        </p:blipFill>
        <p:spPr>
          <a:xfrm>
            <a:off x="7315200" y="2743200"/>
            <a:ext cx="1570680" cy="2881800"/>
          </a:xfrm>
          <a:prstGeom prst="rect">
            <a:avLst/>
          </a:prstGeom>
          <a:ln w="0">
            <a:noFill/>
          </a:ln>
        </p:spPr>
      </p:pic>
      <p:pic>
        <p:nvPicPr>
          <p:cNvPr id="130" name="Picture 6" descr="Learn how to use TypeScript to build Angular Apps | malcoded.com"/>
          <p:cNvPicPr/>
          <p:nvPr/>
        </p:nvPicPr>
        <p:blipFill>
          <a:blip r:embed="rId2"/>
          <a:stretch/>
        </p:blipFill>
        <p:spPr>
          <a:xfrm>
            <a:off x="8686800" y="962640"/>
            <a:ext cx="2352960" cy="1323360"/>
          </a:xfrm>
          <a:prstGeom prst="rect">
            <a:avLst/>
          </a:prstGeom>
          <a:ln w="0">
            <a:noFill/>
          </a:ln>
        </p:spPr>
      </p:pic>
      <p:pic>
        <p:nvPicPr>
          <p:cNvPr id="131" name="Picture 5" descr=""/>
          <p:cNvPicPr/>
          <p:nvPr/>
        </p:nvPicPr>
        <p:blipFill>
          <a:blip r:embed="rId3"/>
          <a:stretch/>
        </p:blipFill>
        <p:spPr>
          <a:xfrm>
            <a:off x="9077040" y="3657600"/>
            <a:ext cx="2352960" cy="1235160"/>
          </a:xfrm>
          <a:prstGeom prst="rect">
            <a:avLst/>
          </a:prstGeom>
          <a:ln w="0">
            <a:noFill/>
          </a:ln>
        </p:spPr>
      </p:pic>
      <p:pic>
        <p:nvPicPr>
          <p:cNvPr id="132" name="Picture 3" descr=""/>
          <p:cNvPicPr/>
          <p:nvPr/>
        </p:nvPicPr>
        <p:blipFill>
          <a:blip r:embed="rId4"/>
          <a:stretch/>
        </p:blipFill>
        <p:spPr>
          <a:xfrm>
            <a:off x="6629400" y="1269360"/>
            <a:ext cx="2352960" cy="788040"/>
          </a:xfrm>
          <a:prstGeom prst="rect">
            <a:avLst/>
          </a:prstGeom>
          <a:ln w="0">
            <a:noFill/>
          </a:ln>
        </p:spPr>
      </p:pic>
      <p:pic>
        <p:nvPicPr>
          <p:cNvPr id="133" name="Picture 2" descr="What is MySQL? | OVHcloud Asia"/>
          <p:cNvPicPr/>
          <p:nvPr/>
        </p:nvPicPr>
        <p:blipFill>
          <a:blip r:embed="rId5"/>
          <a:stretch/>
        </p:blipFill>
        <p:spPr>
          <a:xfrm>
            <a:off x="3200400" y="2286000"/>
            <a:ext cx="2748600" cy="119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4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0" y="0"/>
            <a:ext cx="1219140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1179360" y="1280520"/>
            <a:ext cx="98330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GB" sz="3600" spc="-1" strike="noStrike">
                <a:solidFill>
                  <a:schemeClr val="dk2"/>
                </a:solidFill>
                <a:latin typeface="Times New Roman"/>
              </a:rPr>
              <a:t>Преживяване</a:t>
            </a:r>
            <a:endParaRPr b="0" lang="en-GB" sz="3600" spc="-1" strike="noStrike">
              <a:solidFill>
                <a:schemeClr val="dk1"/>
              </a:solidFill>
              <a:latin typeface="Aptos"/>
            </a:endParaRPr>
          </a:p>
        </p:txBody>
      </p:sp>
      <p:grpSp>
        <p:nvGrpSpPr>
          <p:cNvPr id="137" name="Group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289720" y="0"/>
            <a:ext cx="3902040" cy="2382480"/>
            <a:chOff x="8289720" y="0"/>
            <a:chExt cx="3902040" cy="2382480"/>
          </a:xfrm>
        </p:grpSpPr>
        <p:sp>
          <p:nvSpPr>
            <p:cNvPr id="138" name="Freeform: Shape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289720" y="0"/>
              <a:ext cx="3901680" cy="2382480"/>
            </a:xfrm>
            <a:custGeom>
              <a:avLst/>
              <a:gdLst>
                <a:gd name="textAreaLeft" fmla="*/ 0 w 3901680"/>
                <a:gd name="textAreaRight" fmla="*/ 3902040 w 3901680"/>
                <a:gd name="textAreaTop" fmla="*/ 0 h 2382480"/>
                <a:gd name="textAreaBottom" fmla="*/ 2382840 h 2382480"/>
              </a:gdLst>
              <a:ahLst/>
              <a:rect l="textAreaLeft" t="textAreaTop" r="textAreaRight" b="textAreaBottom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39" name="Freeform: Shap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326080" y="0"/>
              <a:ext cx="3865680" cy="2183760"/>
            </a:xfrm>
            <a:custGeom>
              <a:avLst/>
              <a:gdLst>
                <a:gd name="textAreaLeft" fmla="*/ 0 w 3865680"/>
                <a:gd name="textAreaRight" fmla="*/ 3866040 w 3865680"/>
                <a:gd name="textAreaTop" fmla="*/ 0 h 2183760"/>
                <a:gd name="textAreaBottom" fmla="*/ 2184120 h 2183760"/>
              </a:gdLst>
              <a:ahLst/>
              <a:rect l="textAreaLeft" t="textAreaTop" r="textAreaRight" b="textAreaBottom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40" name="Freeform: Shape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329680" y="0"/>
              <a:ext cx="3862080" cy="2145240"/>
            </a:xfrm>
            <a:custGeom>
              <a:avLst/>
              <a:gdLst>
                <a:gd name="textAreaLeft" fmla="*/ 0 w 3862080"/>
                <a:gd name="textAreaRight" fmla="*/ 3862440 w 3862080"/>
                <a:gd name="textAreaTop" fmla="*/ 0 h 2145240"/>
                <a:gd name="textAreaBottom" fmla="*/ 2145600 h 2145240"/>
              </a:gdLst>
              <a:ahLst/>
              <a:rect l="textAreaLeft" t="textAreaTop" r="textAreaRight" b="textAreaBottom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41" name="Freeform: Shape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329680" y="0"/>
              <a:ext cx="3862080" cy="2145240"/>
            </a:xfrm>
            <a:custGeom>
              <a:avLst/>
              <a:gdLst>
                <a:gd name="textAreaLeft" fmla="*/ 0 w 3862080"/>
                <a:gd name="textAreaRight" fmla="*/ 3862440 w 3862080"/>
                <a:gd name="textAreaTop" fmla="*/ 0 h 2145240"/>
                <a:gd name="textAreaBottom" fmla="*/ 2145600 h 2145240"/>
              </a:gdLst>
              <a:ahLst/>
              <a:rect l="textAreaLeft" t="textAreaTop" r="textAreaRight" b="textAreaBottom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</p:grp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1179360" y="2890800"/>
            <a:ext cx="9833040" cy="269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Times New Roman"/>
              </a:rPr>
              <a:t>Какво научихме?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Times New Roman"/>
              </a:rPr>
              <a:t>Втора година за повечето от отбора ни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Times New Roman"/>
              </a:rPr>
              <a:t>Запознахме се с нови технологии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Times New Roman"/>
              </a:rPr>
              <a:t>Забавлявахме се дори и да ни беше трудно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Times New Roman"/>
              </a:rPr>
              <a:t>Подобрихме способностите си за работа в екип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1800" spc="-1" strike="noStrike">
              <a:solidFill>
                <a:schemeClr val="dk1"/>
              </a:solidFill>
              <a:latin typeface="Aptos"/>
            </a:endParaRPr>
          </a:p>
        </p:txBody>
      </p:sp>
      <p:grpSp>
        <p:nvGrpSpPr>
          <p:cNvPr id="143" name="Group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4682520"/>
            <a:ext cx="2898360" cy="2175120"/>
            <a:chOff x="0" y="4682520"/>
            <a:chExt cx="2898360" cy="2175120"/>
          </a:xfrm>
        </p:grpSpPr>
        <p:sp>
          <p:nvSpPr>
            <p:cNvPr id="144" name="Freeform: Shape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360" y="4851000"/>
              <a:ext cx="2885400" cy="2006640"/>
            </a:xfrm>
            <a:custGeom>
              <a:avLst/>
              <a:gdLst>
                <a:gd name="textAreaLeft" fmla="*/ 0 w 2885400"/>
                <a:gd name="textAreaRight" fmla="*/ 2885760 w 2885400"/>
                <a:gd name="textAreaTop" fmla="*/ 360 h 2006640"/>
                <a:gd name="textAreaBottom" fmla="*/ 2007360 h 2006640"/>
              </a:gdLst>
              <a:ahLst/>
              <a:rect l="textAreaLeft" t="textAreaTop" r="textAreaRight" b="textAreaBottom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96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45" name="Freeform: Shape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360" y="4851000"/>
              <a:ext cx="2885400" cy="2006640"/>
            </a:xfrm>
            <a:custGeom>
              <a:avLst/>
              <a:gdLst>
                <a:gd name="textAreaLeft" fmla="*/ 0 w 2885400"/>
                <a:gd name="textAreaRight" fmla="*/ 2885760 w 2885400"/>
                <a:gd name="textAreaTop" fmla="*/ 360 h 2006640"/>
                <a:gd name="textAreaBottom" fmla="*/ 2007360 h 2006640"/>
              </a:gdLst>
              <a:ahLst/>
              <a:rect l="textAreaLeft" t="textAreaTop" r="textAreaRight" b="textAreaBottom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96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46" name="Freeform: Shape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0" y="4833360"/>
              <a:ext cx="2885760" cy="2023560"/>
            </a:xfrm>
            <a:custGeom>
              <a:avLst/>
              <a:gdLst>
                <a:gd name="textAreaLeft" fmla="*/ 0 w 2885760"/>
                <a:gd name="textAreaRight" fmla="*/ 2886120 w 2885760"/>
                <a:gd name="textAreaTop" fmla="*/ -360 h 2023560"/>
                <a:gd name="textAreaBottom" fmla="*/ 2023560 h 2023560"/>
              </a:gdLst>
              <a:ahLst/>
              <a:rect l="textAreaLeft" t="textAreaTop" r="textAreaRight" b="textAreaBottom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96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47" name="Freeform: Shap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360" y="4682520"/>
              <a:ext cx="2898000" cy="2175120"/>
            </a:xfrm>
            <a:custGeom>
              <a:avLst/>
              <a:gdLst>
                <a:gd name="textAreaLeft" fmla="*/ 0 w 2898000"/>
                <a:gd name="textAreaRight" fmla="*/ 2898360 w 2898000"/>
                <a:gd name="textAreaTop" fmla="*/ 360 h 2175120"/>
                <a:gd name="textAreaBottom" fmla="*/ 2175840 h 2175120"/>
              </a:gdLst>
              <a:ahLst/>
              <a:rect l="textAreaLeft" t="textAreaTop" r="textAreaRight" b="textAreaBottom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96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GB" sz="4400" spc="-1" strike="noStrike">
                <a:solidFill>
                  <a:schemeClr val="dk1"/>
                </a:solidFill>
                <a:latin typeface="Times New Roman"/>
              </a:rPr>
              <a:t>Процес на работа</a:t>
            </a:r>
            <a:endParaRPr b="0" lang="en-GB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49" name="Google Shape;2378;p30"/>
          <p:cNvSpPr/>
          <p:nvPr/>
        </p:nvSpPr>
        <p:spPr>
          <a:xfrm>
            <a:off x="1828800" y="2735640"/>
            <a:ext cx="238428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bg-BG" sz="1600" spc="-1" strike="noStrike">
                <a:solidFill>
                  <a:schemeClr val="dk1"/>
                </a:solidFill>
                <a:latin typeface="Anton"/>
                <a:ea typeface="Anton"/>
              </a:rPr>
              <a:t>Генериране</a:t>
            </a:r>
            <a:br>
              <a:rPr sz="1600"/>
            </a:br>
            <a:r>
              <a:rPr b="0" lang="bg-BG" sz="1600" spc="-1" strike="noStrike">
                <a:solidFill>
                  <a:schemeClr val="dk1"/>
                </a:solidFill>
                <a:latin typeface="Anton"/>
                <a:ea typeface="Anton"/>
              </a:rPr>
              <a:t> на идея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Google Shape;2380;p30"/>
          <p:cNvSpPr/>
          <p:nvPr/>
        </p:nvSpPr>
        <p:spPr>
          <a:xfrm>
            <a:off x="3798000" y="2382120"/>
            <a:ext cx="238428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bg-BG" sz="1600" spc="-1" strike="noStrike">
                <a:solidFill>
                  <a:schemeClr val="dk1"/>
                </a:solidFill>
                <a:latin typeface="Anton"/>
                <a:ea typeface="Anton"/>
              </a:rPr>
              <a:t>Анализ и</a:t>
            </a:r>
            <a:br>
              <a:rPr sz="1600"/>
            </a:br>
            <a:r>
              <a:rPr b="0" lang="bg-BG" sz="1600" spc="-1" strike="noStrike">
                <a:solidFill>
                  <a:schemeClr val="dk1"/>
                </a:solidFill>
                <a:latin typeface="Anton"/>
                <a:ea typeface="Anton"/>
              </a:rPr>
              <a:t> планиране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Google Shape;2386;p30"/>
          <p:cNvSpPr/>
          <p:nvPr/>
        </p:nvSpPr>
        <p:spPr>
          <a:xfrm>
            <a:off x="2743200" y="2243880"/>
            <a:ext cx="79200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3000" spc="-1" strike="noStrike">
                <a:solidFill>
                  <a:schemeClr val="dk2"/>
                </a:solidFill>
                <a:latin typeface="Anton"/>
                <a:ea typeface="Anton"/>
              </a:rPr>
              <a:t>1.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Google Shape;2387;p30"/>
          <p:cNvSpPr/>
          <p:nvPr/>
        </p:nvSpPr>
        <p:spPr>
          <a:xfrm>
            <a:off x="6182280" y="2055600"/>
            <a:ext cx="92772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3000" spc="-1" strike="noStrike">
                <a:solidFill>
                  <a:schemeClr val="dk2"/>
                </a:solidFill>
                <a:latin typeface="Anton"/>
                <a:ea typeface="Anton"/>
              </a:rPr>
              <a:t>3.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Google Shape;2388;p30"/>
          <p:cNvSpPr/>
          <p:nvPr/>
        </p:nvSpPr>
        <p:spPr>
          <a:xfrm>
            <a:off x="4632120" y="1740600"/>
            <a:ext cx="79200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3000" spc="-1" strike="noStrike">
                <a:solidFill>
                  <a:schemeClr val="dk2"/>
                </a:solidFill>
                <a:latin typeface="Anton"/>
                <a:ea typeface="Anton"/>
              </a:rPr>
              <a:t>2.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1"/>
          <p:cNvSpPr/>
          <p:nvPr/>
        </p:nvSpPr>
        <p:spPr>
          <a:xfrm>
            <a:off x="6980040" y="2642760"/>
            <a:ext cx="14058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bg-BG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Google Shape;2387;p30"/>
          <p:cNvSpPr/>
          <p:nvPr/>
        </p:nvSpPr>
        <p:spPr>
          <a:xfrm>
            <a:off x="3093120" y="4302720"/>
            <a:ext cx="92772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bg-BG" sz="3000" spc="-1" strike="noStrike">
                <a:solidFill>
                  <a:schemeClr val="dk2"/>
                </a:solidFill>
                <a:latin typeface="Anton"/>
                <a:ea typeface="Anton"/>
              </a:rPr>
              <a:t>7</a:t>
            </a:r>
            <a:r>
              <a:rPr b="0" lang="en" sz="3000" spc="-1" strike="noStrike">
                <a:solidFill>
                  <a:schemeClr val="dk2"/>
                </a:solidFill>
                <a:latin typeface="Anton"/>
                <a:ea typeface="Anton"/>
              </a:rPr>
              <a:t>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Google Shape;2387;p30"/>
          <p:cNvSpPr/>
          <p:nvPr/>
        </p:nvSpPr>
        <p:spPr>
          <a:xfrm>
            <a:off x="7759080" y="3210480"/>
            <a:ext cx="92772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" sz="3000" spc="-1" strike="noStrike">
                <a:solidFill>
                  <a:schemeClr val="dk2"/>
                </a:solidFill>
                <a:latin typeface="Anton"/>
                <a:ea typeface="Anton"/>
              </a:rPr>
              <a:t>4.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Google Shape;2387;p30"/>
          <p:cNvSpPr/>
          <p:nvPr/>
        </p:nvSpPr>
        <p:spPr>
          <a:xfrm>
            <a:off x="6228360" y="4191480"/>
            <a:ext cx="92772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" sz="3000" spc="-1" strike="noStrike">
                <a:solidFill>
                  <a:schemeClr val="dk2"/>
                </a:solidFill>
                <a:latin typeface="Anton"/>
                <a:ea typeface="Anton"/>
              </a:rPr>
              <a:t>5.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Google Shape;2380;p30"/>
          <p:cNvSpPr/>
          <p:nvPr/>
        </p:nvSpPr>
        <p:spPr>
          <a:xfrm>
            <a:off x="7543800" y="3886200"/>
            <a:ext cx="297792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1600" spc="-1" strike="noStrike">
                <a:solidFill>
                  <a:schemeClr val="dk1"/>
                </a:solidFill>
                <a:latin typeface="Anton"/>
                <a:ea typeface="Anton"/>
              </a:rPr>
              <a:t>Backend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bg-BG" sz="1600" spc="-1" strike="noStrike">
                <a:solidFill>
                  <a:schemeClr val="dk1"/>
                </a:solidFill>
                <a:latin typeface="Anton"/>
                <a:ea typeface="Anton"/>
              </a:rPr>
              <a:t>разработка  </a:t>
            </a:r>
            <a:r>
              <a:rPr b="0" lang="en-GB" sz="1600" spc="-1" strike="noStrike">
                <a:solidFill>
                  <a:schemeClr val="dk1"/>
                </a:solidFill>
                <a:latin typeface="Anton"/>
                <a:ea typeface="Anton"/>
              </a:rPr>
              <a:t>(Java + Springboot)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Google Shape;2380;p30"/>
          <p:cNvSpPr/>
          <p:nvPr/>
        </p:nvSpPr>
        <p:spPr>
          <a:xfrm>
            <a:off x="5943600" y="2640960"/>
            <a:ext cx="330768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 algn="ctr" defTabSz="914400">
              <a:lnSpc>
                <a:spcPct val="100000"/>
              </a:lnSpc>
            </a:pPr>
            <a:r>
              <a:rPr b="0" lang="bg-BG" sz="1600" spc="-1" strike="noStrike">
                <a:solidFill>
                  <a:schemeClr val="dk1"/>
                </a:solidFill>
                <a:latin typeface="Anton"/>
                <a:ea typeface="Anton"/>
              </a:rPr>
              <a:t>Проектиране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bg-BG" sz="1600" spc="-1" strike="noStrike">
                <a:solidFill>
                  <a:schemeClr val="dk1"/>
                </a:solidFill>
                <a:latin typeface="Anton"/>
                <a:ea typeface="Anton"/>
              </a:rPr>
              <a:t>на базата данни </a:t>
            </a:r>
            <a:r>
              <a:rPr b="0" lang="en-GB" sz="1600" spc="-1" strike="noStrike">
                <a:solidFill>
                  <a:schemeClr val="dk1"/>
                </a:solidFill>
                <a:latin typeface="Anton"/>
                <a:ea typeface="Anton"/>
              </a:rPr>
              <a:t>(SQL) - MySQL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8"/>
          <p:cNvSpPr/>
          <p:nvPr/>
        </p:nvSpPr>
        <p:spPr>
          <a:xfrm>
            <a:off x="6577920" y="4588560"/>
            <a:ext cx="210888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</a:pPr>
            <a:r>
              <a:rPr b="1" lang="bg-BG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1" lang="en-GB" sz="1400" spc="-1" strike="noStrike">
                <a:solidFill>
                  <a:srgbClr val="000000"/>
                </a:solidFill>
                <a:latin typeface="Arial"/>
                <a:ea typeface="Arial"/>
              </a:rPr>
              <a:t>Frontend</a:t>
            </a:r>
            <a:r>
              <a:rPr b="1" lang="bg-BG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bg-BG" sz="1400" spc="-1" strike="noStrike">
                <a:solidFill>
                  <a:srgbClr val="000000"/>
                </a:solidFill>
                <a:latin typeface="Arial"/>
                <a:ea typeface="Arial"/>
              </a:rPr>
              <a:t>разработка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bg-BG" sz="14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GB" sz="1400" spc="-1" strike="noStrike">
                <a:solidFill>
                  <a:srgbClr val="000000"/>
                </a:solidFill>
                <a:latin typeface="Arial"/>
                <a:ea typeface="Arial"/>
              </a:rPr>
              <a:t>(</a:t>
            </a:r>
            <a:r>
              <a:rPr b="1" lang="en-GB" sz="1400" spc="-1" strike="noStrike">
                <a:solidFill>
                  <a:srgbClr val="000000"/>
                </a:solidFill>
                <a:latin typeface="Arial"/>
                <a:ea typeface="Arial"/>
              </a:rPr>
              <a:t>Typescript + React</a:t>
            </a:r>
            <a:r>
              <a:rPr b="0" lang="en-GB" sz="1400" spc="-1" strike="noStrike">
                <a:solidFill>
                  <a:srgbClr val="000000"/>
                </a:solidFill>
                <a:latin typeface="Arial"/>
                <a:ea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Google Shape;2387;p30"/>
          <p:cNvSpPr/>
          <p:nvPr/>
        </p:nvSpPr>
        <p:spPr>
          <a:xfrm>
            <a:off x="4696920" y="4706640"/>
            <a:ext cx="92772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bg-BG" sz="3000" spc="-1" strike="noStrike">
                <a:solidFill>
                  <a:schemeClr val="dk2"/>
                </a:solidFill>
                <a:latin typeface="Anton"/>
                <a:ea typeface="Anton"/>
              </a:rPr>
              <a:t>6</a:t>
            </a:r>
            <a:r>
              <a:rPr b="0" lang="en" sz="3000" spc="-1" strike="noStrike">
                <a:solidFill>
                  <a:schemeClr val="dk2"/>
                </a:solidFill>
                <a:latin typeface="Anton"/>
                <a:ea typeface="Anton"/>
              </a:rPr>
              <a:t>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Google Shape;2380;p30"/>
          <p:cNvSpPr/>
          <p:nvPr/>
        </p:nvSpPr>
        <p:spPr>
          <a:xfrm>
            <a:off x="4016520" y="5283720"/>
            <a:ext cx="2384280" cy="4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 algn="ctr" defTabSz="914400">
              <a:lnSpc>
                <a:spcPct val="100000"/>
              </a:lnSpc>
            </a:pPr>
            <a:r>
              <a:rPr b="0" lang="bg-BG" sz="1600" spc="-1" strike="noStrike">
                <a:solidFill>
                  <a:schemeClr val="dk1"/>
                </a:solidFill>
                <a:latin typeface="Anton"/>
                <a:ea typeface="Anton"/>
              </a:rPr>
              <a:t>Интеграция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bg-BG" sz="1600" spc="-1" strike="noStrike">
                <a:solidFill>
                  <a:schemeClr val="dk1"/>
                </a:solidFill>
                <a:latin typeface="Anton"/>
                <a:ea typeface="Anton"/>
              </a:rPr>
              <a:t>и тестване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14"/>
          <p:cNvSpPr/>
          <p:nvPr/>
        </p:nvSpPr>
        <p:spPr>
          <a:xfrm>
            <a:off x="2700360" y="4757400"/>
            <a:ext cx="5549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bg-BG" sz="1400" spc="-1" strike="noStrike">
                <a:solidFill>
                  <a:srgbClr val="000000"/>
                </a:solidFill>
                <a:latin typeface="Arial"/>
                <a:ea typeface="Arial"/>
              </a:rPr>
              <a:t>Деплоймънт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bg-BG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bg-BG" sz="1400" spc="-1" strike="noStrike">
                <a:solidFill>
                  <a:srgbClr val="000000"/>
                </a:solidFill>
                <a:latin typeface="Arial"/>
                <a:ea typeface="Arial"/>
              </a:rPr>
              <a:t>и поддръжка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Arrow: Right 19"/>
          <p:cNvSpPr/>
          <p:nvPr/>
        </p:nvSpPr>
        <p:spPr>
          <a:xfrm rot="20557200">
            <a:off x="3812040" y="2345040"/>
            <a:ext cx="469800" cy="484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4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65" name="Arrow: Right 20"/>
          <p:cNvSpPr/>
          <p:nvPr/>
        </p:nvSpPr>
        <p:spPr>
          <a:xfrm rot="1050600">
            <a:off x="5743440" y="2138760"/>
            <a:ext cx="469800" cy="484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4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66" name="Arrow: Right 21"/>
          <p:cNvSpPr/>
          <p:nvPr/>
        </p:nvSpPr>
        <p:spPr>
          <a:xfrm rot="4167000">
            <a:off x="8303400" y="2881800"/>
            <a:ext cx="469800" cy="484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4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67" name="Arrow: Right 22"/>
          <p:cNvSpPr/>
          <p:nvPr/>
        </p:nvSpPr>
        <p:spPr>
          <a:xfrm rot="8032200">
            <a:off x="7037280" y="4095000"/>
            <a:ext cx="469800" cy="484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4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68" name="Arrow: Right 23"/>
          <p:cNvSpPr/>
          <p:nvPr/>
        </p:nvSpPr>
        <p:spPr>
          <a:xfrm rot="9192600">
            <a:off x="5846760" y="4837320"/>
            <a:ext cx="469800" cy="484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4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69" name="Arrow: Right 24"/>
          <p:cNvSpPr/>
          <p:nvPr/>
        </p:nvSpPr>
        <p:spPr>
          <a:xfrm rot="12746400">
            <a:off x="3979080" y="4710960"/>
            <a:ext cx="469800" cy="484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400" spc="-1" strike="noStrike">
              <a:solidFill>
                <a:schemeClr val="lt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0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71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0" y="0"/>
            <a:ext cx="1219140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72" name="Freeform: 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96880" y="3960"/>
            <a:ext cx="9376200" cy="6857640"/>
          </a:xfrm>
          <a:custGeom>
            <a:avLst/>
            <a:gdLst>
              <a:gd name="textAreaLeft" fmla="*/ 0 w 9376200"/>
              <a:gd name="textAreaRight" fmla="*/ 9376560 w 937620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rotWithShape="0">
            <a:gsLst>
              <a:gs pos="16000">
                <a:srgbClr val="4ea72e">
                  <a:alpha val="20000"/>
                </a:srgbClr>
              </a:gs>
              <a:gs pos="85000">
                <a:srgbClr val="156082">
                  <a:alpha val="40000"/>
                </a:srgbClr>
              </a:gs>
            </a:gsLst>
            <a:lin ang="12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grpSp>
        <p:nvGrpSpPr>
          <p:cNvPr id="173" name="Group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03560" y="3960"/>
            <a:ext cx="9772200" cy="6857640"/>
            <a:chOff x="1303560" y="3960"/>
            <a:chExt cx="9772200" cy="6857640"/>
          </a:xfrm>
        </p:grpSpPr>
        <p:sp>
          <p:nvSpPr>
            <p:cNvPr id="174" name="Freeform: Shap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560600" y="3960"/>
              <a:ext cx="9312480" cy="6857640"/>
            </a:xfrm>
            <a:custGeom>
              <a:avLst/>
              <a:gdLst>
                <a:gd name="textAreaLeft" fmla="*/ 0 w 9312480"/>
                <a:gd name="textAreaRight" fmla="*/ 9312840 w 9312480"/>
                <a:gd name="textAreaTop" fmla="*/ 0 h 6857640"/>
                <a:gd name="textAreaBottom" fmla="*/ 6858000 h 6857640"/>
              </a:gdLst>
              <a:ahLst/>
              <a:rect l="textAreaLeft" t="textAreaTop" r="textAreaRight" b="textAreaBottom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75" name="Freeform: Shape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59600" y="3960"/>
              <a:ext cx="9065160" cy="6857640"/>
            </a:xfrm>
            <a:custGeom>
              <a:avLst/>
              <a:gdLst>
                <a:gd name="textAreaLeft" fmla="*/ 0 w 9065160"/>
                <a:gd name="textAreaRight" fmla="*/ 9065520 w 9065160"/>
                <a:gd name="textAreaTop" fmla="*/ 0 h 6857640"/>
                <a:gd name="textAreaBottom" fmla="*/ 6858000 h 6857640"/>
              </a:gdLst>
              <a:ahLst/>
              <a:rect l="textAreaLeft" t="textAreaTop" r="textAreaRight" b="textAreaBottom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76" name="Freeform: Shape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48080" y="3960"/>
              <a:ext cx="9087840" cy="6857640"/>
            </a:xfrm>
            <a:custGeom>
              <a:avLst/>
              <a:gdLst>
                <a:gd name="textAreaLeft" fmla="*/ 0 w 9087840"/>
                <a:gd name="textAreaRight" fmla="*/ 9088200 w 9087840"/>
                <a:gd name="textAreaTop" fmla="*/ 0 h 6857640"/>
                <a:gd name="textAreaBottom" fmla="*/ 6858000 h 6857640"/>
              </a:gdLst>
              <a:ahLst/>
              <a:rect l="textAreaLeft" t="textAreaTop" r="textAreaRight" b="textAreaBottom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77" name="Freeform: Shap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29000" y="3960"/>
              <a:ext cx="9106920" cy="6857640"/>
            </a:xfrm>
            <a:custGeom>
              <a:avLst/>
              <a:gdLst>
                <a:gd name="textAreaLeft" fmla="*/ 0 w 9106920"/>
                <a:gd name="textAreaRight" fmla="*/ 9107280 w 9106920"/>
                <a:gd name="textAreaTop" fmla="*/ 0 h 6857640"/>
                <a:gd name="textAreaBottom" fmla="*/ 6858000 h 6857640"/>
              </a:gdLst>
              <a:ahLst/>
              <a:rect l="textAreaLeft" t="textAreaTop" r="textAreaRight" b="textAreaBottom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78" name="Freeform: Shape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18320" y="3960"/>
              <a:ext cx="9747360" cy="6857640"/>
            </a:xfrm>
            <a:custGeom>
              <a:avLst/>
              <a:gdLst>
                <a:gd name="textAreaLeft" fmla="*/ 0 w 9747360"/>
                <a:gd name="textAreaRight" fmla="*/ 9747720 w 9747360"/>
                <a:gd name="textAreaTop" fmla="*/ 0 h 6857640"/>
                <a:gd name="textAreaBottom" fmla="*/ 6858000 h 6857640"/>
              </a:gdLst>
              <a:ahLst/>
              <a:rect l="textAreaLeft" t="textAreaTop" r="textAreaRight" b="textAreaBottom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79" name="Freeform: Shape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8240" y="3960"/>
              <a:ext cx="9767520" cy="6857640"/>
            </a:xfrm>
            <a:custGeom>
              <a:avLst/>
              <a:gdLst>
                <a:gd name="textAreaLeft" fmla="*/ 0 w 9767520"/>
                <a:gd name="textAreaRight" fmla="*/ 9767880 w 9767520"/>
                <a:gd name="textAreaTop" fmla="*/ 0 h 6857640"/>
                <a:gd name="textAreaBottom" fmla="*/ 6858000 h 6857640"/>
              </a:gdLst>
              <a:ahLst/>
              <a:rect l="textAreaLeft" t="textAreaTop" r="textAreaRight" b="textAreaBottom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80" name="Freeform: Shape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3560" y="3960"/>
              <a:ext cx="9767520" cy="6857640"/>
            </a:xfrm>
            <a:custGeom>
              <a:avLst/>
              <a:gdLst>
                <a:gd name="textAreaLeft" fmla="*/ 0 w 9767520"/>
                <a:gd name="textAreaRight" fmla="*/ 9767880 w 9767520"/>
                <a:gd name="textAreaTop" fmla="*/ 0 h 6857640"/>
                <a:gd name="textAreaBottom" fmla="*/ 6858000 h 6857640"/>
              </a:gdLst>
              <a:ahLst/>
              <a:rect l="textAreaLeft" t="textAreaTop" r="textAreaRight" b="textAreaBottom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</p:grpSp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3502800" y="1542240"/>
            <a:ext cx="5186520" cy="238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5200" spc="-1" strike="noStrike">
                <a:solidFill>
                  <a:schemeClr val="dk2"/>
                </a:solidFill>
                <a:latin typeface="Times New Roman"/>
              </a:rPr>
              <a:t>Демо</a:t>
            </a:r>
            <a:endParaRPr b="0" lang="en-GB" sz="5200" spc="-1" strike="noStrike">
              <a:solidFill>
                <a:schemeClr val="dk1"/>
              </a:solidFill>
              <a:latin typeface="Aptos"/>
            </a:endParaRPr>
          </a:p>
        </p:txBody>
      </p:sp>
      <p:grpSp>
        <p:nvGrpSpPr>
          <p:cNvPr id="182" name="Group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360" y="-4320"/>
            <a:ext cx="2514600" cy="2174040"/>
            <a:chOff x="-360" y="-4320"/>
            <a:chExt cx="2514600" cy="2174040"/>
          </a:xfrm>
        </p:grpSpPr>
        <p:sp>
          <p:nvSpPr>
            <p:cNvPr id="183" name="Freeform: Shape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360" y="0"/>
              <a:ext cx="2514600" cy="2169720"/>
            </a:xfrm>
            <a:custGeom>
              <a:avLst/>
              <a:gdLst>
                <a:gd name="textAreaLeft" fmla="*/ 0 w 2514600"/>
                <a:gd name="textAreaRight" fmla="*/ 2514960 w 2514600"/>
                <a:gd name="textAreaTop" fmla="*/ 0 h 2169720"/>
                <a:gd name="textAreaBottom" fmla="*/ 2170080 h 2169720"/>
              </a:gdLst>
              <a:ahLst/>
              <a:rect l="textAreaLeft" t="textAreaTop" r="textAreaRight" b="textAreaBottom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84" name="Freeform: Shap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360" y="-4320"/>
              <a:ext cx="2492640" cy="1947600"/>
            </a:xfrm>
            <a:custGeom>
              <a:avLst/>
              <a:gdLst>
                <a:gd name="textAreaLeft" fmla="*/ 0 w 2492640"/>
                <a:gd name="textAreaRight" fmla="*/ 2493000 w 2492640"/>
                <a:gd name="textAreaTop" fmla="*/ 0 h 1947600"/>
                <a:gd name="textAreaBottom" fmla="*/ 1947960 h 1947600"/>
              </a:gdLst>
              <a:ahLst/>
              <a:rect l="textAreaLeft" t="textAreaTop" r="textAreaRight" b="textAreaBottom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85" name="Freeform: Shape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360" y="0"/>
              <a:ext cx="2500560" cy="1972440"/>
            </a:xfrm>
            <a:custGeom>
              <a:avLst/>
              <a:gdLst>
                <a:gd name="textAreaLeft" fmla="*/ 0 w 2500560"/>
                <a:gd name="textAreaRight" fmla="*/ 2500920 w 2500560"/>
                <a:gd name="textAreaTop" fmla="*/ 0 h 1972440"/>
                <a:gd name="textAreaBottom" fmla="*/ 1972800 h 1972440"/>
              </a:gdLst>
              <a:ahLst/>
              <a:rect l="textAreaLeft" t="textAreaTop" r="textAreaRight" b="textAreaBottom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86" name="Freeform: Shap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60" y="0"/>
              <a:ext cx="2490840" cy="1943280"/>
            </a:xfrm>
            <a:custGeom>
              <a:avLst/>
              <a:gdLst>
                <a:gd name="textAreaLeft" fmla="*/ 0 w 2490840"/>
                <a:gd name="textAreaRight" fmla="*/ 2491200 w 2490840"/>
                <a:gd name="textAreaTop" fmla="*/ 0 h 1943280"/>
                <a:gd name="textAreaBottom" fmla="*/ 1943640 h 1943280"/>
              </a:gdLst>
              <a:ahLst/>
              <a:rect l="textAreaLeft" t="textAreaTop" r="textAreaRight" b="textAreaBottom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</p:grpSp>
      <p:grpSp>
        <p:nvGrpSpPr>
          <p:cNvPr id="187" name="Group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686160" y="4683960"/>
            <a:ext cx="2514600" cy="2174040"/>
            <a:chOff x="9686160" y="4683960"/>
            <a:chExt cx="2514600" cy="2174040"/>
          </a:xfrm>
        </p:grpSpPr>
        <p:sp>
          <p:nvSpPr>
            <p:cNvPr id="188" name="Freeform: Shape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686160" y="4683960"/>
              <a:ext cx="2514600" cy="2169720"/>
            </a:xfrm>
            <a:custGeom>
              <a:avLst/>
              <a:gdLst>
                <a:gd name="textAreaLeft" fmla="*/ 0 w 2514600"/>
                <a:gd name="textAreaRight" fmla="*/ 2514960 w 2514600"/>
                <a:gd name="textAreaTop" fmla="*/ 0 h 2169720"/>
                <a:gd name="textAreaBottom" fmla="*/ 2170080 h 2169720"/>
              </a:gdLst>
              <a:ahLst/>
              <a:rect l="textAreaLeft" t="textAreaTop" r="textAreaRight" b="textAreaBottom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89" name="Freeform: Shape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708120" y="4910400"/>
              <a:ext cx="2492640" cy="1947600"/>
            </a:xfrm>
            <a:custGeom>
              <a:avLst/>
              <a:gdLst>
                <a:gd name="textAreaLeft" fmla="*/ 0 w 2492640"/>
                <a:gd name="textAreaRight" fmla="*/ 2493000 w 2492640"/>
                <a:gd name="textAreaTop" fmla="*/ 0 h 1947600"/>
                <a:gd name="textAreaBottom" fmla="*/ 1947960 h 1947600"/>
              </a:gdLst>
              <a:ahLst/>
              <a:rect l="textAreaLeft" t="textAreaTop" r="textAreaRight" b="textAreaBottom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90" name="Freeform: Shape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700200" y="4881240"/>
              <a:ext cx="2500560" cy="1972440"/>
            </a:xfrm>
            <a:custGeom>
              <a:avLst/>
              <a:gdLst>
                <a:gd name="textAreaLeft" fmla="*/ 0 w 2500560"/>
                <a:gd name="textAreaRight" fmla="*/ 2500920 w 2500560"/>
                <a:gd name="textAreaTop" fmla="*/ 0 h 1972440"/>
                <a:gd name="textAreaBottom" fmla="*/ 1972800 h 1972440"/>
              </a:gdLst>
              <a:ahLst/>
              <a:rect l="textAreaLeft" t="textAreaTop" r="textAreaRight" b="textAreaBottom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91" name="Freeform: Shape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709200" y="4910400"/>
              <a:ext cx="2490840" cy="1943280"/>
            </a:xfrm>
            <a:custGeom>
              <a:avLst/>
              <a:gdLst>
                <a:gd name="textAreaLeft" fmla="*/ 0 w 2490840"/>
                <a:gd name="textAreaRight" fmla="*/ 2491200 w 2490840"/>
                <a:gd name="textAreaTop" fmla="*/ 0 h 1943280"/>
                <a:gd name="textAreaBottom" fmla="*/ 1943640 h 1943280"/>
              </a:gdLst>
              <a:ahLst/>
              <a:rect l="textAreaLeft" t="textAreaTop" r="textAreaRight" b="textAreaBottom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2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9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0" y="0"/>
            <a:ext cx="1219140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800" spc="-1" strike="noStrike">
              <a:solidFill>
                <a:schemeClr val="lt1"/>
              </a:solidFill>
              <a:latin typeface="Aptos"/>
            </a:endParaRPr>
          </a:p>
        </p:txBody>
      </p:sp>
      <p:grpSp>
        <p:nvGrpSpPr>
          <p:cNvPr id="194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21960" y="508680"/>
            <a:ext cx="5217480" cy="6239160"/>
            <a:chOff x="-21960" y="508680"/>
            <a:chExt cx="5217480" cy="6239160"/>
          </a:xfrm>
        </p:grpSpPr>
        <p:sp>
          <p:nvSpPr>
            <p:cNvPr id="195" name="Freeform: Shape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21960" y="508680"/>
              <a:ext cx="5186880" cy="6239160"/>
            </a:xfrm>
            <a:custGeom>
              <a:avLst/>
              <a:gdLst>
                <a:gd name="textAreaLeft" fmla="*/ 0 w 5186880"/>
                <a:gd name="textAreaRight" fmla="*/ 5187240 w 5186880"/>
                <a:gd name="textAreaTop" fmla="*/ 0 h 6239160"/>
                <a:gd name="textAreaBottom" fmla="*/ 6239520 h 6239160"/>
              </a:gdLst>
              <a:ahLst/>
              <a:rect l="textAreaLeft" t="textAreaTop" r="textAreaRight" b="textAreaBottom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96" name="Freeform: Shap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21960" y="555120"/>
              <a:ext cx="5215320" cy="6107040"/>
            </a:xfrm>
            <a:custGeom>
              <a:avLst/>
              <a:gdLst>
                <a:gd name="textAreaLeft" fmla="*/ 0 w 5215320"/>
                <a:gd name="textAreaRight" fmla="*/ 5215680 w 5215320"/>
                <a:gd name="textAreaTop" fmla="*/ 0 h 6107040"/>
                <a:gd name="textAreaBottom" fmla="*/ 6107400 h 6107040"/>
              </a:gdLst>
              <a:ahLst/>
              <a:rect l="textAreaLeft" t="textAreaTop" r="textAreaRight" b="textAreaBottom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97" name="Freeform: Shape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21960" y="577080"/>
              <a:ext cx="5217480" cy="6099840"/>
            </a:xfrm>
            <a:custGeom>
              <a:avLst/>
              <a:gdLst>
                <a:gd name="textAreaLeft" fmla="*/ 0 w 5217480"/>
                <a:gd name="textAreaRight" fmla="*/ 5217840 w 5217480"/>
                <a:gd name="textAreaTop" fmla="*/ 0 h 6099840"/>
                <a:gd name="textAreaBottom" fmla="*/ 6100200 h 6099840"/>
              </a:gdLst>
              <a:ahLst/>
              <a:rect l="textAreaLeft" t="textAreaTop" r="textAreaRight" b="textAreaBottom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98" name="Freeform: Shape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21960" y="577080"/>
              <a:ext cx="5217480" cy="6099840"/>
            </a:xfrm>
            <a:custGeom>
              <a:avLst/>
              <a:gdLst>
                <a:gd name="textAreaLeft" fmla="*/ 0 w 5217480"/>
                <a:gd name="textAreaRight" fmla="*/ 5217840 w 5217480"/>
                <a:gd name="textAreaTop" fmla="*/ 0 h 6099840"/>
                <a:gd name="textAreaBottom" fmla="*/ 6100200 h 6099840"/>
              </a:gdLst>
              <a:ahLst/>
              <a:rect l="textAreaLeft" t="textAreaTop" r="textAreaRight" b="textAreaBottom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</p:grpSp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640080" y="1243080"/>
            <a:ext cx="3855240" cy="437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3600" spc="-1" strike="noStrike">
                <a:solidFill>
                  <a:schemeClr val="dk2"/>
                </a:solidFill>
                <a:latin typeface="Times New Roman"/>
              </a:rPr>
              <a:t>Екип</a:t>
            </a:r>
            <a:endParaRPr b="0" lang="en-GB" sz="3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6172200" y="804600"/>
            <a:ext cx="5220720" cy="523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2"/>
                </a:solidFill>
                <a:latin typeface="Times New Roman"/>
              </a:rPr>
              <a:t>Участници: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2"/>
                </a:solidFill>
                <a:latin typeface="Times New Roman"/>
              </a:rPr>
              <a:t>Владислав Дойчинов от 9в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2"/>
                </a:solidFill>
                <a:latin typeface="Times New Roman"/>
              </a:rPr>
              <a:t>Александър Георгиев от 9б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2"/>
                </a:solidFill>
                <a:latin typeface="Times New Roman"/>
              </a:rPr>
              <a:t>Димитър Славов от 9в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2"/>
                </a:solidFill>
                <a:latin typeface="Times New Roman"/>
              </a:rPr>
              <a:t>Борис Беров от 9в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2"/>
                </a:solidFill>
                <a:latin typeface="Times New Roman"/>
              </a:rPr>
              <a:t>Стефан Натов от 9в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2"/>
                </a:solidFill>
                <a:latin typeface="Times New Roman"/>
              </a:rPr>
              <a:t>Ментор: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2"/>
                </a:solidFill>
                <a:latin typeface="Times New Roman"/>
              </a:rPr>
              <a:t>Валентин Калчев</a:t>
            </a: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1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1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1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02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gradFill rotWithShape="0">
            <a:gsLst>
              <a:gs pos="16000">
                <a:srgbClr val="4ea72e">
                  <a:alpha val="20000"/>
                </a:srgbClr>
              </a:gs>
              <a:gs pos="85000">
                <a:srgbClr val="156082">
                  <a:alpha val="40000"/>
                </a:srgbClr>
              </a:gs>
            </a:gsLst>
            <a:lin ang="12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grpSp>
        <p:nvGrpSpPr>
          <p:cNvPr id="203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18720" y="-8280"/>
            <a:ext cx="4833720" cy="2487960"/>
            <a:chOff x="-18720" y="-8280"/>
            <a:chExt cx="4833720" cy="2487960"/>
          </a:xfrm>
        </p:grpSpPr>
        <p:sp>
          <p:nvSpPr>
            <p:cNvPr id="204" name="Freeform: Shape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-19080" y="-8280"/>
              <a:ext cx="4833720" cy="2487960"/>
            </a:xfrm>
            <a:custGeom>
              <a:avLst/>
              <a:gdLst>
                <a:gd name="textAreaLeft" fmla="*/ -360 w 4833720"/>
                <a:gd name="textAreaRight" fmla="*/ 4833720 w 4833720"/>
                <a:gd name="textAreaTop" fmla="*/ 0 h 2487960"/>
                <a:gd name="textAreaBottom" fmla="*/ 2488320 h 2487960"/>
              </a:gdLst>
              <a:ahLst/>
              <a:rect l="textAreaLeft" t="textAreaTop" r="textAreaRight" b="textAreaBottom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05" name="Freeform: Shap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-18360" y="-8280"/>
              <a:ext cx="4788720" cy="2280240"/>
            </a:xfrm>
            <a:custGeom>
              <a:avLst/>
              <a:gdLst>
                <a:gd name="textAreaLeft" fmla="*/ 360 w 4788720"/>
                <a:gd name="textAreaRight" fmla="*/ 4789440 w 4788720"/>
                <a:gd name="textAreaTop" fmla="*/ 0 h 2280240"/>
                <a:gd name="textAreaBottom" fmla="*/ 2280600 h 2280240"/>
              </a:gdLst>
              <a:ahLst/>
              <a:rect l="textAreaLeft" t="textAreaTop" r="textAreaRight" b="textAreaBottom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06" name="Freeform: Shape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-18360" y="-8280"/>
              <a:ext cx="4784400" cy="2239920"/>
            </a:xfrm>
            <a:custGeom>
              <a:avLst/>
              <a:gdLst>
                <a:gd name="textAreaLeft" fmla="*/ 360 w 4784400"/>
                <a:gd name="textAreaRight" fmla="*/ 4785120 w 4784400"/>
                <a:gd name="textAreaTop" fmla="*/ 0 h 2239920"/>
                <a:gd name="textAreaBottom" fmla="*/ 2240280 h 2239920"/>
              </a:gdLst>
              <a:ahLst/>
              <a:rect l="textAreaLeft" t="textAreaTop" r="textAreaRight" b="textAreaBottom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07" name="Freeform: Shape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-18360" y="-8280"/>
              <a:ext cx="4784400" cy="2239920"/>
            </a:xfrm>
            <a:custGeom>
              <a:avLst/>
              <a:gdLst>
                <a:gd name="textAreaLeft" fmla="*/ 360 w 4784400"/>
                <a:gd name="textAreaRight" fmla="*/ 4785120 w 4784400"/>
                <a:gd name="textAreaTop" fmla="*/ 0 h 2239920"/>
                <a:gd name="textAreaBottom" fmla="*/ 2240280 h 2239920"/>
              </a:gdLst>
              <a:ahLst/>
              <a:rect l="textAreaLeft" t="textAreaTop" r="textAreaRight" b="textAreaBottom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</p:grpSp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3027960" y="991440"/>
            <a:ext cx="5754240" cy="183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GB" sz="3600" spc="-1" strike="noStrike">
                <a:solidFill>
                  <a:schemeClr val="dk2"/>
                </a:solidFill>
                <a:latin typeface="Times New Roman"/>
              </a:rPr>
              <a:t>Благодарим на нашия ментор!</a:t>
            </a:r>
            <a:endParaRPr b="0" lang="en-GB" sz="3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3050280" y="2979360"/>
            <a:ext cx="5709240" cy="243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</a:pPr>
            <a:r>
              <a:rPr b="0" lang="en-GB" sz="2000" spc="-1" strike="noStrike">
                <a:solidFill>
                  <a:schemeClr val="dk2"/>
                </a:solidFill>
                <a:latin typeface="Times New Roman"/>
              </a:rPr>
              <a:t>Развиване на нашата идея</a:t>
            </a:r>
            <a:endParaRPr b="0" lang="en-GB" sz="20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</a:pPr>
            <a:r>
              <a:rPr b="0" lang="en-GB" sz="2000" spc="-1" strike="noStrike">
                <a:solidFill>
                  <a:schemeClr val="dk2"/>
                </a:solidFill>
                <a:latin typeface="Times New Roman"/>
              </a:rPr>
              <a:t>Вдъхновение и  мотивация</a:t>
            </a:r>
            <a:endParaRPr b="0" lang="en-GB" sz="20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</a:pPr>
            <a:r>
              <a:rPr b="0" lang="en-GB" sz="2000" spc="-1" strike="noStrike">
                <a:solidFill>
                  <a:schemeClr val="dk2"/>
                </a:solidFill>
                <a:latin typeface="Times New Roman"/>
              </a:rPr>
              <a:t>Помощ  с технологиите</a:t>
            </a:r>
            <a:endParaRPr b="0" lang="en-GB" sz="20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GB" sz="20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GB" sz="2000" spc="-1" strike="noStrike">
              <a:solidFill>
                <a:schemeClr val="dk1"/>
              </a:solidFill>
              <a:latin typeface="Aptos"/>
            </a:endParaRPr>
          </a:p>
        </p:txBody>
      </p:sp>
      <p:grpSp>
        <p:nvGrpSpPr>
          <p:cNvPr id="210" name="Group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058680" y="4146840"/>
            <a:ext cx="3142080" cy="2716200"/>
            <a:chOff x="9058680" y="4146840"/>
            <a:chExt cx="3142080" cy="2716200"/>
          </a:xfrm>
        </p:grpSpPr>
        <p:sp>
          <p:nvSpPr>
            <p:cNvPr id="211" name="Freeform: Shape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058680" y="4146840"/>
              <a:ext cx="3142080" cy="2711160"/>
            </a:xfrm>
            <a:custGeom>
              <a:avLst/>
              <a:gdLst>
                <a:gd name="textAreaLeft" fmla="*/ 0 w 3142080"/>
                <a:gd name="textAreaRight" fmla="*/ 3142440 w 3142080"/>
                <a:gd name="textAreaTop" fmla="*/ 0 h 2711160"/>
                <a:gd name="textAreaBottom" fmla="*/ 2711520 h 2711160"/>
              </a:gdLst>
              <a:ahLst/>
              <a:rect l="textAreaLeft" t="textAreaTop" r="textAreaRight" b="textAreaBottom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12" name="Freeform: Shape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086040" y="4429440"/>
              <a:ext cx="3114720" cy="2433600"/>
            </a:xfrm>
            <a:custGeom>
              <a:avLst/>
              <a:gdLst>
                <a:gd name="textAreaLeft" fmla="*/ 0 w 3114720"/>
                <a:gd name="textAreaRight" fmla="*/ 3115080 w 3114720"/>
                <a:gd name="textAreaTop" fmla="*/ 0 h 2433600"/>
                <a:gd name="textAreaBottom" fmla="*/ 2433960 h 2433600"/>
              </a:gdLst>
              <a:ahLst/>
              <a:rect l="textAreaLeft" t="textAreaTop" r="textAreaRight" b="textAreaBottom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13" name="Freeform: Shape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075960" y="4393440"/>
              <a:ext cx="3124800" cy="2464560"/>
            </a:xfrm>
            <a:custGeom>
              <a:avLst/>
              <a:gdLst>
                <a:gd name="textAreaLeft" fmla="*/ 0 w 3124800"/>
                <a:gd name="textAreaRight" fmla="*/ 3125160 w 3124800"/>
                <a:gd name="textAreaTop" fmla="*/ 0 h 2464560"/>
                <a:gd name="textAreaBottom" fmla="*/ 2464920 h 2464560"/>
              </a:gdLst>
              <a:ahLst/>
              <a:rect l="textAreaLeft" t="textAreaTop" r="textAreaRight" b="textAreaBottom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14" name="Freeform: Shap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087840" y="4429800"/>
              <a:ext cx="3112200" cy="2428200"/>
            </a:xfrm>
            <a:custGeom>
              <a:avLst/>
              <a:gdLst>
                <a:gd name="textAreaLeft" fmla="*/ 0 w 3112200"/>
                <a:gd name="textAreaRight" fmla="*/ 3112560 w 3112200"/>
                <a:gd name="textAreaTop" fmla="*/ 0 h 2428200"/>
                <a:gd name="textAreaBottom" fmla="*/ 2428560 h 2428200"/>
              </a:gdLst>
              <a:ahLst/>
              <a:rect l="textAreaLeft" t="textAreaTop" r="textAreaRight" b="textAreaBottom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5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16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0" y="0"/>
            <a:ext cx="12191400" cy="6857640"/>
          </a:xfrm>
          <a:prstGeom prst="rect">
            <a:avLst/>
          </a:prstGeom>
          <a:gradFill rotWithShape="0">
            <a:gsLst>
              <a:gs pos="16000">
                <a:srgbClr val="4ea72e">
                  <a:alpha val="20000"/>
                </a:srgbClr>
              </a:gs>
              <a:gs pos="85000">
                <a:srgbClr val="156082">
                  <a:alpha val="40000"/>
                </a:srgbClr>
              </a:gs>
            </a:gsLst>
            <a:lin ang="12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grpSp>
        <p:nvGrpSpPr>
          <p:cNvPr id="217" name="Group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03560" y="3960"/>
            <a:ext cx="9772200" cy="6857640"/>
            <a:chOff x="1303560" y="3960"/>
            <a:chExt cx="9772200" cy="6857640"/>
          </a:xfrm>
        </p:grpSpPr>
        <p:sp>
          <p:nvSpPr>
            <p:cNvPr id="218" name="Freeform: Shape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560600" y="3960"/>
              <a:ext cx="9312480" cy="6857640"/>
            </a:xfrm>
            <a:custGeom>
              <a:avLst/>
              <a:gdLst>
                <a:gd name="textAreaLeft" fmla="*/ 0 w 9312480"/>
                <a:gd name="textAreaRight" fmla="*/ 9312840 w 9312480"/>
                <a:gd name="textAreaTop" fmla="*/ 0 h 6857640"/>
                <a:gd name="textAreaBottom" fmla="*/ 6858000 h 6857640"/>
              </a:gdLst>
              <a:ahLst/>
              <a:rect l="textAreaLeft" t="textAreaTop" r="textAreaRight" b="textAreaBottom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19" name="Freeform: Shape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59600" y="3960"/>
              <a:ext cx="9065160" cy="6857640"/>
            </a:xfrm>
            <a:custGeom>
              <a:avLst/>
              <a:gdLst>
                <a:gd name="textAreaLeft" fmla="*/ 0 w 9065160"/>
                <a:gd name="textAreaRight" fmla="*/ 9065520 w 9065160"/>
                <a:gd name="textAreaTop" fmla="*/ 0 h 6857640"/>
                <a:gd name="textAreaBottom" fmla="*/ 6858000 h 6857640"/>
              </a:gdLst>
              <a:ahLst/>
              <a:rect l="textAreaLeft" t="textAreaTop" r="textAreaRight" b="textAreaBottom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20" name="Freeform: Shap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48080" y="3960"/>
              <a:ext cx="9087840" cy="6857640"/>
            </a:xfrm>
            <a:custGeom>
              <a:avLst/>
              <a:gdLst>
                <a:gd name="textAreaLeft" fmla="*/ 0 w 9087840"/>
                <a:gd name="textAreaRight" fmla="*/ 9088200 w 9087840"/>
                <a:gd name="textAreaTop" fmla="*/ 0 h 6857640"/>
                <a:gd name="textAreaBottom" fmla="*/ 6858000 h 6857640"/>
              </a:gdLst>
              <a:ahLst/>
              <a:rect l="textAreaLeft" t="textAreaTop" r="textAreaRight" b="textAreaBottom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21" name="Freeform: Shape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29000" y="3960"/>
              <a:ext cx="9106920" cy="6857640"/>
            </a:xfrm>
            <a:custGeom>
              <a:avLst/>
              <a:gdLst>
                <a:gd name="textAreaLeft" fmla="*/ 0 w 9106920"/>
                <a:gd name="textAreaRight" fmla="*/ 9107280 w 9106920"/>
                <a:gd name="textAreaTop" fmla="*/ 0 h 6857640"/>
                <a:gd name="textAreaBottom" fmla="*/ 6858000 h 6857640"/>
              </a:gdLst>
              <a:ahLst/>
              <a:rect l="textAreaLeft" t="textAreaTop" r="textAreaRight" b="textAreaBottom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22" name="Freeform: Shape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3560" y="3960"/>
              <a:ext cx="9767520" cy="6857640"/>
            </a:xfrm>
            <a:custGeom>
              <a:avLst/>
              <a:gdLst>
                <a:gd name="textAreaLeft" fmla="*/ 0 w 9767520"/>
                <a:gd name="textAreaRight" fmla="*/ 9767880 w 9767520"/>
                <a:gd name="textAreaTop" fmla="*/ 0 h 6857640"/>
                <a:gd name="textAreaBottom" fmla="*/ 6858000 h 6857640"/>
              </a:gdLst>
              <a:ahLst/>
              <a:rect l="textAreaLeft" t="textAreaTop" r="textAreaRight" b="textAreaBottom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23" name="Freeform: Shap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18320" y="3960"/>
              <a:ext cx="9747360" cy="6857640"/>
            </a:xfrm>
            <a:custGeom>
              <a:avLst/>
              <a:gdLst>
                <a:gd name="textAreaLeft" fmla="*/ 0 w 9747360"/>
                <a:gd name="textAreaRight" fmla="*/ 9747720 w 9747360"/>
                <a:gd name="textAreaTop" fmla="*/ 0 h 6857640"/>
                <a:gd name="textAreaBottom" fmla="*/ 6858000 h 6857640"/>
              </a:gdLst>
              <a:ahLst/>
              <a:rect l="textAreaLeft" t="textAreaTop" r="textAreaRight" b="textAreaBottom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24" name="Freeform: Shape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8240" y="3960"/>
              <a:ext cx="9767520" cy="6857640"/>
            </a:xfrm>
            <a:custGeom>
              <a:avLst/>
              <a:gdLst>
                <a:gd name="textAreaLeft" fmla="*/ 0 w 9767520"/>
                <a:gd name="textAreaRight" fmla="*/ 9767880 w 9767520"/>
                <a:gd name="textAreaTop" fmla="*/ 0 h 6857640"/>
                <a:gd name="textAreaBottom" fmla="*/ 6858000 h 6857640"/>
              </a:gdLst>
              <a:ahLst/>
              <a:rect l="textAreaLeft" t="textAreaTop" r="textAreaRight" b="textAreaBottom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</p:grpSp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3215880" y="1764360"/>
            <a:ext cx="5760360" cy="231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5200" spc="-1" strike="noStrike">
                <a:solidFill>
                  <a:schemeClr val="dk2"/>
                </a:solidFill>
                <a:latin typeface="Times New Roman"/>
              </a:rPr>
              <a:t>Благодарим за вниманието!</a:t>
            </a:r>
            <a:endParaRPr b="0" lang="en-GB" sz="52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</TotalTime>
  <Application>LibreOffice/24.2.5.2$Windows_X86_64 LibreOffice_project/bffef4ea93e59bebbeaf7f431bb02b1a39ee8a59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2026-03-27T19:18:46Z</dcterms:created>
  <dc:creator/>
  <dc:description/>
  <dc:language>en-US</dc:language>
  <cp:lastModifiedBy/>
  <dcterms:modified xsi:type="dcterms:W3CDTF">2026-03-27T23:06:29Z</dcterms:modified>
  <cp:revision>172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11</vt:i4>
  </property>
</Properties>
</file>